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82" y="3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183F76-DB93-49C1-9F8F-CC1755ECBEE1}" type="datetimeFigureOut">
              <a:rPr lang="en-IN" smtClean="0"/>
              <a:t>29-04-2026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F049411-5B32-4DD8-A00A-8FDC4D3E8B63}" type="slidenum">
              <a:rPr lang="en-IN" smtClean="0"/>
              <a:t>‹#›</a:t>
            </a:fld>
            <a:endParaRPr lang="en-IN" dirty="0"/>
          </a:p>
        </p:txBody>
      </p:sp>
    </p:spTree>
    <p:extLst>
      <p:ext uri="{BB962C8B-B14F-4D97-AF65-F5344CB8AC3E}">
        <p14:creationId xmlns:p14="http://schemas.microsoft.com/office/powerpoint/2010/main" val="2450443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183F76-DB93-49C1-9F8F-CC1755ECBEE1}" type="datetimeFigureOut">
              <a:rPr lang="en-IN" smtClean="0"/>
              <a:t>29-04-2026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F049411-5B32-4DD8-A00A-8FDC4D3E8B63}" type="slidenum">
              <a:rPr lang="en-IN" smtClean="0"/>
              <a:t>‹#›</a:t>
            </a:fld>
            <a:endParaRPr lang="en-IN" dirty="0"/>
          </a:p>
        </p:txBody>
      </p:sp>
    </p:spTree>
    <p:extLst>
      <p:ext uri="{BB962C8B-B14F-4D97-AF65-F5344CB8AC3E}">
        <p14:creationId xmlns:p14="http://schemas.microsoft.com/office/powerpoint/2010/main" val="6523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A1183F76-DB93-49C1-9F8F-CC1755ECBEE1}" type="datetimeFigureOut">
              <a:rPr lang="en-IN" smtClean="0"/>
              <a:t>29-04-2026</a:t>
            </a:fld>
            <a:endParaRPr lang="en-IN"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6F049411-5B32-4DD8-A00A-8FDC4D3E8B63}" type="slidenum">
              <a:rPr lang="en-IN" smtClean="0"/>
              <a:t>‹#›</a:t>
            </a:fld>
            <a:endParaRPr lang="en-IN" dirty="0"/>
          </a:p>
        </p:txBody>
      </p:sp>
    </p:spTree>
    <p:extLst>
      <p:ext uri="{BB962C8B-B14F-4D97-AF65-F5344CB8AC3E}">
        <p14:creationId xmlns:p14="http://schemas.microsoft.com/office/powerpoint/2010/main" val="272151084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183F76-DB93-49C1-9F8F-CC1755ECBEE1}" type="datetimeFigureOut">
              <a:rPr lang="en-IN" smtClean="0"/>
              <a:t>29-04-2026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6F049411-5B32-4DD8-A00A-8FDC4D3E8B63}" type="slidenum">
              <a:rPr lang="en-IN" smtClean="0"/>
              <a:t>‹#›</a:t>
            </a:fld>
            <a:endParaRPr lang="en-IN" dirty="0"/>
          </a:p>
        </p:txBody>
      </p:sp>
    </p:spTree>
    <p:extLst>
      <p:ext uri="{BB962C8B-B14F-4D97-AF65-F5344CB8AC3E}">
        <p14:creationId xmlns:p14="http://schemas.microsoft.com/office/powerpoint/2010/main" val="1952815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183F76-DB93-49C1-9F8F-CC1755ECBEE1}" type="datetimeFigureOut">
              <a:rPr lang="en-IN" smtClean="0"/>
              <a:t>29-04-2026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6F049411-5B32-4DD8-A00A-8FDC4D3E8B63}" type="slidenum">
              <a:rPr lang="en-IN" smtClean="0"/>
              <a:t>‹#›</a:t>
            </a:fld>
            <a:endParaRPr lang="en-IN" dirty="0"/>
          </a:p>
        </p:txBody>
      </p:sp>
    </p:spTree>
    <p:extLst>
      <p:ext uri="{BB962C8B-B14F-4D97-AF65-F5344CB8AC3E}">
        <p14:creationId xmlns:p14="http://schemas.microsoft.com/office/powerpoint/2010/main" val="1983959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183F76-DB93-49C1-9F8F-CC1755ECBEE1}" type="datetimeFigureOut">
              <a:rPr lang="en-IN" smtClean="0"/>
              <a:t>29-04-2026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6F049411-5B32-4DD8-A00A-8FDC4D3E8B63}" type="slidenum">
              <a:rPr lang="en-IN" smtClean="0"/>
              <a:t>‹#›</a:t>
            </a:fld>
            <a:endParaRPr lang="en-IN" dirty="0"/>
          </a:p>
        </p:txBody>
      </p:sp>
    </p:spTree>
    <p:extLst>
      <p:ext uri="{BB962C8B-B14F-4D97-AF65-F5344CB8AC3E}">
        <p14:creationId xmlns:p14="http://schemas.microsoft.com/office/powerpoint/2010/main" val="3223364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183F76-DB93-49C1-9F8F-CC1755ECBEE1}" type="datetimeFigureOut">
              <a:rPr lang="en-IN" smtClean="0"/>
              <a:t>29-04-2026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6F049411-5B32-4DD8-A00A-8FDC4D3E8B63}" type="slidenum">
              <a:rPr lang="en-IN" smtClean="0"/>
              <a:t>‹#›</a:t>
            </a:fld>
            <a:endParaRPr lang="en-IN" dirty="0"/>
          </a:p>
        </p:txBody>
      </p:sp>
    </p:spTree>
    <p:extLst>
      <p:ext uri="{BB962C8B-B14F-4D97-AF65-F5344CB8AC3E}">
        <p14:creationId xmlns:p14="http://schemas.microsoft.com/office/powerpoint/2010/main" val="66112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183F76-DB93-49C1-9F8F-CC1755ECBEE1}" type="datetimeFigureOut">
              <a:rPr lang="en-IN" smtClean="0"/>
              <a:t>29-04-2026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6F049411-5B32-4DD8-A00A-8FDC4D3E8B63}" type="slidenum">
              <a:rPr lang="en-IN" smtClean="0"/>
              <a:t>‹#›</a:t>
            </a:fld>
            <a:endParaRPr lang="en-IN" dirty="0"/>
          </a:p>
        </p:txBody>
      </p:sp>
    </p:spTree>
    <p:extLst>
      <p:ext uri="{BB962C8B-B14F-4D97-AF65-F5344CB8AC3E}">
        <p14:creationId xmlns:p14="http://schemas.microsoft.com/office/powerpoint/2010/main" val="640161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183F76-DB93-49C1-9F8F-CC1755ECBEE1}" type="datetimeFigureOut">
              <a:rPr lang="en-IN" smtClean="0"/>
              <a:t>29-04-2026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6F049411-5B32-4DD8-A00A-8FDC4D3E8B63}" type="slidenum">
              <a:rPr lang="en-IN" smtClean="0"/>
              <a:t>‹#›</a:t>
            </a:fld>
            <a:endParaRPr lang="en-IN" dirty="0"/>
          </a:p>
        </p:txBody>
      </p:sp>
    </p:spTree>
    <p:extLst>
      <p:ext uri="{BB962C8B-B14F-4D97-AF65-F5344CB8AC3E}">
        <p14:creationId xmlns:p14="http://schemas.microsoft.com/office/powerpoint/2010/main" val="236044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183F76-DB93-49C1-9F8F-CC1755ECBEE1}" type="datetimeFigureOut">
              <a:rPr lang="en-IN" smtClean="0"/>
              <a:t>29-04-2026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F049411-5B32-4DD8-A00A-8FDC4D3E8B63}" type="slidenum">
              <a:rPr lang="en-IN" smtClean="0"/>
              <a:t>‹#›</a:t>
            </a:fld>
            <a:endParaRPr lang="en-IN" dirty="0"/>
          </a:p>
        </p:txBody>
      </p:sp>
    </p:spTree>
    <p:extLst>
      <p:ext uri="{BB962C8B-B14F-4D97-AF65-F5344CB8AC3E}">
        <p14:creationId xmlns:p14="http://schemas.microsoft.com/office/powerpoint/2010/main" val="3256880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A1183F76-DB93-49C1-9F8F-CC1755ECBEE1}" type="datetimeFigureOut">
              <a:rPr lang="en-IN" smtClean="0"/>
              <a:t>29-04-2026</a:t>
            </a:fld>
            <a:endParaRPr lang="en-IN" dirty="0"/>
          </a:p>
        </p:txBody>
      </p:sp>
      <p:sp>
        <p:nvSpPr>
          <p:cNvPr id="5" name="Footer Placeholder 4"/>
          <p:cNvSpPr>
            <a:spLocks noGrp="1"/>
          </p:cNvSpPr>
          <p:nvPr>
            <p:ph type="ftr" sz="quarter" idx="11"/>
          </p:nvPr>
        </p:nvSpPr>
        <p:spPr>
          <a:xfrm>
            <a:off x="3776135" y="6422854"/>
            <a:ext cx="4279669" cy="365125"/>
          </a:xfrm>
        </p:spPr>
        <p:txBody>
          <a:bodyPr/>
          <a:lstStyle/>
          <a:p>
            <a:endParaRPr lang="en-IN" dirty="0"/>
          </a:p>
        </p:txBody>
      </p:sp>
      <p:sp>
        <p:nvSpPr>
          <p:cNvPr id="6" name="Slide Number Placeholder 5"/>
          <p:cNvSpPr>
            <a:spLocks noGrp="1"/>
          </p:cNvSpPr>
          <p:nvPr>
            <p:ph type="sldNum" sz="quarter" idx="12"/>
          </p:nvPr>
        </p:nvSpPr>
        <p:spPr>
          <a:xfrm>
            <a:off x="8073048" y="6422854"/>
            <a:ext cx="879759" cy="365125"/>
          </a:xfrm>
        </p:spPr>
        <p:txBody>
          <a:bodyPr/>
          <a:lstStyle/>
          <a:p>
            <a:fld id="{6F049411-5B32-4DD8-A00A-8FDC4D3E8B63}" type="slidenum">
              <a:rPr lang="en-IN" smtClean="0"/>
              <a:t>‹#›</a:t>
            </a:fld>
            <a:endParaRPr lang="en-IN" dirty="0"/>
          </a:p>
        </p:txBody>
      </p:sp>
    </p:spTree>
    <p:extLst>
      <p:ext uri="{BB962C8B-B14F-4D97-AF65-F5344CB8AC3E}">
        <p14:creationId xmlns:p14="http://schemas.microsoft.com/office/powerpoint/2010/main" val="3733219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A1183F76-DB93-49C1-9F8F-CC1755ECBEE1}" type="datetimeFigureOut">
              <a:rPr lang="en-IN" smtClean="0"/>
              <a:t>29-04-2026</a:t>
            </a:fld>
            <a:endParaRPr lang="en-IN" dirty="0"/>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IN" dirty="0"/>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6F049411-5B32-4DD8-A00A-8FDC4D3E8B63}" type="slidenum">
              <a:rPr lang="en-IN" smtClean="0"/>
              <a:t>‹#›</a:t>
            </a:fld>
            <a:endParaRPr lang="en-IN" dirty="0"/>
          </a:p>
        </p:txBody>
      </p:sp>
    </p:spTree>
    <p:extLst>
      <p:ext uri="{BB962C8B-B14F-4D97-AF65-F5344CB8AC3E}">
        <p14:creationId xmlns:p14="http://schemas.microsoft.com/office/powerpoint/2010/main" val="337642678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F4FEE-0BCC-ECEA-BEF5-808AEF86B305}"/>
              </a:ext>
            </a:extLst>
          </p:cNvPr>
          <p:cNvSpPr>
            <a:spLocks noGrp="1"/>
          </p:cNvSpPr>
          <p:nvPr>
            <p:ph type="ctrTitle"/>
          </p:nvPr>
        </p:nvSpPr>
        <p:spPr>
          <a:xfrm>
            <a:off x="0" y="1805354"/>
            <a:ext cx="12020062" cy="2387600"/>
          </a:xfrm>
        </p:spPr>
        <p:txBody>
          <a:bodyPr/>
          <a:lstStyle/>
          <a:p>
            <a:r>
              <a:rPr lang="sv-SE" dirty="0"/>
              <a:t>Smart Irrigation System using AVR Microcontroller</a:t>
            </a:r>
            <a:endParaRPr lang="en-IN" dirty="0"/>
          </a:p>
        </p:txBody>
      </p:sp>
      <p:sp>
        <p:nvSpPr>
          <p:cNvPr id="3" name="Subtitle 2">
            <a:extLst>
              <a:ext uri="{FF2B5EF4-FFF2-40B4-BE49-F238E27FC236}">
                <a16:creationId xmlns:a16="http://schemas.microsoft.com/office/drawing/2014/main" id="{3305BCB8-FE48-5A06-6482-0A280D9E5D64}"/>
              </a:ext>
            </a:extLst>
          </p:cNvPr>
          <p:cNvSpPr>
            <a:spLocks noGrp="1"/>
          </p:cNvSpPr>
          <p:nvPr>
            <p:ph type="subTitle" idx="1"/>
          </p:nvPr>
        </p:nvSpPr>
        <p:spPr>
          <a:xfrm>
            <a:off x="1266093" y="3993661"/>
            <a:ext cx="9144000" cy="4247662"/>
          </a:xfrm>
        </p:spPr>
        <p:txBody>
          <a:bodyPr/>
          <a:lstStyle/>
          <a:p>
            <a:r>
              <a:rPr lang="en-IN" dirty="0"/>
              <a:t>(Group IV)</a:t>
            </a:r>
          </a:p>
          <a:p>
            <a:pPr algn="l"/>
            <a:r>
              <a:rPr lang="en-IN" b="1" dirty="0"/>
              <a:t>Submitted by:                                                                                                          Submitted to:</a:t>
            </a:r>
          </a:p>
          <a:p>
            <a:pPr algn="l"/>
            <a:r>
              <a:rPr lang="en-IN" dirty="0"/>
              <a:t>Shital Kumar Singh</a:t>
            </a:r>
            <a:r>
              <a:rPr lang="en-IN" b="1" dirty="0"/>
              <a:t>                                                                                                 </a:t>
            </a:r>
            <a:r>
              <a:rPr lang="en-IN" dirty="0"/>
              <a:t>Dr. Neha Ahuja</a:t>
            </a:r>
          </a:p>
          <a:p>
            <a:pPr algn="l"/>
            <a:r>
              <a:rPr lang="en-IN" dirty="0"/>
              <a:t>Dibya Krishna Kar</a:t>
            </a:r>
          </a:p>
          <a:p>
            <a:pPr algn="l"/>
            <a:r>
              <a:rPr lang="en-IN" dirty="0"/>
              <a:t>Nilesh Yadav</a:t>
            </a:r>
          </a:p>
          <a:p>
            <a:pPr algn="l"/>
            <a:r>
              <a:rPr lang="en-IN" dirty="0"/>
              <a:t>Alffrin Regi</a:t>
            </a:r>
          </a:p>
          <a:p>
            <a:pPr algn="l"/>
            <a:endParaRPr lang="en-IN" dirty="0"/>
          </a:p>
        </p:txBody>
      </p:sp>
    </p:spTree>
    <p:extLst>
      <p:ext uri="{BB962C8B-B14F-4D97-AF65-F5344CB8AC3E}">
        <p14:creationId xmlns:p14="http://schemas.microsoft.com/office/powerpoint/2010/main" val="2822871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6D99-B98A-5783-E266-5BBC3C659EAB}"/>
              </a:ext>
            </a:extLst>
          </p:cNvPr>
          <p:cNvSpPr>
            <a:spLocks noGrp="1"/>
          </p:cNvSpPr>
          <p:nvPr>
            <p:ph type="title"/>
          </p:nvPr>
        </p:nvSpPr>
        <p:spPr/>
        <p:txBody>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77574D2F-A43E-6DE2-7E1F-E8391B684887}"/>
              </a:ext>
            </a:extLst>
          </p:cNvPr>
          <p:cNvSpPr>
            <a:spLocks noGrp="1"/>
          </p:cNvSpPr>
          <p:nvPr>
            <p:ph idx="1"/>
          </p:nvPr>
        </p:nvSpPr>
        <p:spPr>
          <a:xfrm>
            <a:off x="390770" y="2011680"/>
            <a:ext cx="11527692" cy="4206240"/>
          </a:xfrm>
        </p:spPr>
        <p:txBody>
          <a:bodyPr/>
          <a:lstStyle/>
          <a:p>
            <a:pPr marL="0" indent="0">
              <a:buNone/>
            </a:pPr>
            <a:r>
              <a:rPr lang="en-US" dirty="0"/>
              <a:t>The Smart Irrigation System is an automated solution designed to optimize water usage in agriculture by continuously monitoring soil moisture levels and controlling irrigation accordingly. It uses a soil moisture sensor to detect the condition of the soil in real time and ensures that water is supplied only when required, thereby improving efficiency and conserving resources.</a:t>
            </a:r>
          </a:p>
          <a:p>
            <a:pPr marL="0" indent="0">
              <a:buNone/>
            </a:pPr>
            <a:r>
              <a:rPr lang="en-US" dirty="0"/>
              <a:t>Traditional irrigation methods often rely on fixed schedules or manual operation, which can lead to overwatering or underwatering of crops. This system overcomes such limitations by using an AVR microcontroller to make real-time decisions based on sensor data, resulting in better water management, reduced wastage, and improved plant growth.</a:t>
            </a:r>
          </a:p>
          <a:p>
            <a:endParaRPr lang="en-IN" dirty="0"/>
          </a:p>
        </p:txBody>
      </p:sp>
    </p:spTree>
    <p:extLst>
      <p:ext uri="{BB962C8B-B14F-4D97-AF65-F5344CB8AC3E}">
        <p14:creationId xmlns:p14="http://schemas.microsoft.com/office/powerpoint/2010/main" val="1851734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0B0D8-958C-7336-CB68-62F59C2D1E54}"/>
              </a:ext>
            </a:extLst>
          </p:cNvPr>
          <p:cNvSpPr>
            <a:spLocks noGrp="1"/>
          </p:cNvSpPr>
          <p:nvPr>
            <p:ph type="title"/>
          </p:nvPr>
        </p:nvSpPr>
        <p:spPr/>
        <p:txBody>
          <a:bodyPr/>
          <a:lstStyle/>
          <a:p>
            <a:r>
              <a:rPr lang="en-IN" b="1" dirty="0"/>
              <a:t>Objective:</a:t>
            </a:r>
          </a:p>
        </p:txBody>
      </p:sp>
      <p:sp>
        <p:nvSpPr>
          <p:cNvPr id="3" name="Content Placeholder 2">
            <a:extLst>
              <a:ext uri="{FF2B5EF4-FFF2-40B4-BE49-F238E27FC236}">
                <a16:creationId xmlns:a16="http://schemas.microsoft.com/office/drawing/2014/main" id="{86F19C15-6ECA-5FD6-CFB9-E29E76DC77E6}"/>
              </a:ext>
            </a:extLst>
          </p:cNvPr>
          <p:cNvSpPr>
            <a:spLocks noGrp="1"/>
          </p:cNvSpPr>
          <p:nvPr>
            <p:ph idx="1"/>
          </p:nvPr>
        </p:nvSpPr>
        <p:spPr/>
        <p:txBody>
          <a:bodyPr/>
          <a:lstStyle/>
          <a:p>
            <a:pPr marL="0" indent="0">
              <a:buNone/>
            </a:pPr>
            <a:r>
              <a:rPr lang="en-US" dirty="0"/>
              <a:t>The main goal of this project is to develop an intelligent irrigation system that works automatically based on soil conditions. It reduces the need for manual monitoring and ensures efficient water usage.</a:t>
            </a:r>
          </a:p>
          <a:p>
            <a:pPr marL="0" indent="0">
              <a:buNone/>
            </a:pPr>
            <a:r>
              <a:rPr lang="en-US" dirty="0"/>
              <a:t>Key Objectives:-</a:t>
            </a:r>
          </a:p>
          <a:p>
            <a:r>
              <a:rPr lang="en-US" dirty="0"/>
              <a:t>Automate irrigation process </a:t>
            </a:r>
          </a:p>
          <a:p>
            <a:r>
              <a:rPr lang="en-US" dirty="0"/>
              <a:t>Save water resources </a:t>
            </a:r>
          </a:p>
          <a:p>
            <a:r>
              <a:rPr lang="en-US" dirty="0"/>
              <a:t>Reduce human effort </a:t>
            </a:r>
          </a:p>
          <a:p>
            <a:r>
              <a:rPr lang="en-US" dirty="0"/>
              <a:t>Improve crop productivity</a:t>
            </a:r>
          </a:p>
          <a:p>
            <a:endParaRPr lang="en-IN" dirty="0"/>
          </a:p>
        </p:txBody>
      </p:sp>
    </p:spTree>
    <p:extLst>
      <p:ext uri="{BB962C8B-B14F-4D97-AF65-F5344CB8AC3E}">
        <p14:creationId xmlns:p14="http://schemas.microsoft.com/office/powerpoint/2010/main" val="3206058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10E7B-B5FD-63FB-E0E5-27232B8F27E3}"/>
              </a:ext>
            </a:extLst>
          </p:cNvPr>
          <p:cNvSpPr>
            <a:spLocks noGrp="1"/>
          </p:cNvSpPr>
          <p:nvPr>
            <p:ph type="title"/>
          </p:nvPr>
        </p:nvSpPr>
        <p:spPr/>
        <p:txBody>
          <a:bodyPr/>
          <a:lstStyle/>
          <a:p>
            <a:r>
              <a:rPr lang="en-IN" b="1" dirty="0"/>
              <a:t>Components Used:</a:t>
            </a:r>
          </a:p>
        </p:txBody>
      </p:sp>
      <p:sp>
        <p:nvSpPr>
          <p:cNvPr id="3" name="Content Placeholder 2">
            <a:extLst>
              <a:ext uri="{FF2B5EF4-FFF2-40B4-BE49-F238E27FC236}">
                <a16:creationId xmlns:a16="http://schemas.microsoft.com/office/drawing/2014/main" id="{A810E877-6435-F692-90FB-0E93EFBB2890}"/>
              </a:ext>
            </a:extLst>
          </p:cNvPr>
          <p:cNvSpPr>
            <a:spLocks noGrp="1"/>
          </p:cNvSpPr>
          <p:nvPr>
            <p:ph idx="1"/>
          </p:nvPr>
        </p:nvSpPr>
        <p:spPr/>
        <p:txBody>
          <a:bodyPr/>
          <a:lstStyle/>
          <a:p>
            <a:pPr marL="0" indent="0">
              <a:buNone/>
            </a:pPr>
            <a:r>
              <a:rPr lang="en-US" dirty="0"/>
              <a:t>The system is built using basic electronic and embedded components that work together to perform sensing, processing, and actuation.</a:t>
            </a:r>
          </a:p>
          <a:p>
            <a:pPr marL="0" indent="0">
              <a:buNone/>
            </a:pPr>
            <a:r>
              <a:rPr lang="en-US" dirty="0"/>
              <a:t>Main Components:-</a:t>
            </a:r>
          </a:p>
          <a:p>
            <a:r>
              <a:rPr lang="en-US" dirty="0"/>
              <a:t>ATmega32 Microcontroller </a:t>
            </a:r>
          </a:p>
          <a:p>
            <a:r>
              <a:rPr lang="en-US" dirty="0"/>
              <a:t>Soil Moisture Sensor </a:t>
            </a:r>
          </a:p>
          <a:p>
            <a:r>
              <a:rPr lang="en-US" dirty="0"/>
              <a:t>Relay Module &amp; Water Pump </a:t>
            </a:r>
          </a:p>
          <a:p>
            <a:pPr marL="0" indent="0">
              <a:buNone/>
            </a:pPr>
            <a:endParaRPr lang="en-US" dirty="0"/>
          </a:p>
          <a:p>
            <a:endParaRPr lang="en-IN" dirty="0"/>
          </a:p>
        </p:txBody>
      </p:sp>
    </p:spTree>
    <p:extLst>
      <p:ext uri="{BB962C8B-B14F-4D97-AF65-F5344CB8AC3E}">
        <p14:creationId xmlns:p14="http://schemas.microsoft.com/office/powerpoint/2010/main" val="2259925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765BB-A309-FC3E-1179-B6F491C2A45B}"/>
              </a:ext>
            </a:extLst>
          </p:cNvPr>
          <p:cNvSpPr>
            <a:spLocks noGrp="1"/>
          </p:cNvSpPr>
          <p:nvPr>
            <p:ph type="title"/>
          </p:nvPr>
        </p:nvSpPr>
        <p:spPr/>
        <p:txBody>
          <a:bodyPr/>
          <a:lstStyle/>
          <a:p>
            <a:r>
              <a:rPr lang="en-IN" b="1" dirty="0"/>
              <a:t>Working Principle:</a:t>
            </a:r>
            <a:br>
              <a:rPr lang="en-IN" b="1" dirty="0"/>
            </a:br>
            <a:endParaRPr lang="en-IN" dirty="0"/>
          </a:p>
        </p:txBody>
      </p:sp>
      <p:sp>
        <p:nvSpPr>
          <p:cNvPr id="3" name="Content Placeholder 2">
            <a:extLst>
              <a:ext uri="{FF2B5EF4-FFF2-40B4-BE49-F238E27FC236}">
                <a16:creationId xmlns:a16="http://schemas.microsoft.com/office/drawing/2014/main" id="{4E3C342F-D314-A864-C242-093B9A200035}"/>
              </a:ext>
            </a:extLst>
          </p:cNvPr>
          <p:cNvSpPr>
            <a:spLocks noGrp="1"/>
          </p:cNvSpPr>
          <p:nvPr>
            <p:ph idx="1"/>
          </p:nvPr>
        </p:nvSpPr>
        <p:spPr/>
        <p:txBody>
          <a:bodyPr>
            <a:normAutofit fontScale="92500" lnSpcReduction="10000"/>
          </a:bodyPr>
          <a:lstStyle/>
          <a:p>
            <a:pPr marL="0" indent="0">
              <a:buNone/>
            </a:pPr>
            <a:r>
              <a:rPr lang="en-US" dirty="0"/>
              <a:t>The system continuously monitors soil moisture using a dedicated soil moisture sensor placed in the soil. This sensor detects the water content by measuring changes in electrical properties and generates an analog signal proportional to the moisture level. The analog signal is then sent to the microcontroller, where it is converted into digital form using the built-in Analog-to-Digital Converter (ADC) for accurate processing and decision-making.</a:t>
            </a:r>
          </a:p>
          <a:p>
            <a:pPr marL="0" indent="0">
              <a:buNone/>
            </a:pPr>
            <a:r>
              <a:rPr lang="en-US" dirty="0"/>
              <a:t>The microcontroller compares the received moisture value with a predefined threshold level stored in its program. When the detected moisture level falls below this threshold, it indicates that the soil is dry. In response, the system automatically activates the relay module, which in turn switches ON the water pump to start irrigation. This process ensures that plants receive water exactly when needed.</a:t>
            </a:r>
          </a:p>
          <a:p>
            <a:pPr marL="0" indent="0">
              <a:buNone/>
            </a:pPr>
            <a:r>
              <a:rPr lang="en-US" dirty="0"/>
              <a:t>As the pump supplies water, the soil moisture level gradually increases, and the sensor continuously updates the microcontroller with new readings. Once the moisture level reaches or exceeds the desired threshold, the microcontroller deactivates the relay, turning OFF the pump. This automatic control mechanism prevents overwatering, conserves water, and maintains optimal soil conditions for healthy plant growth.</a:t>
            </a:r>
          </a:p>
          <a:p>
            <a:endParaRPr lang="en-IN" dirty="0"/>
          </a:p>
        </p:txBody>
      </p:sp>
    </p:spTree>
    <p:extLst>
      <p:ext uri="{BB962C8B-B14F-4D97-AF65-F5344CB8AC3E}">
        <p14:creationId xmlns:p14="http://schemas.microsoft.com/office/powerpoint/2010/main" val="2238316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D0DED-8C3B-C643-3DC0-4046BADDB803}"/>
              </a:ext>
            </a:extLst>
          </p:cNvPr>
          <p:cNvSpPr>
            <a:spLocks noGrp="1"/>
          </p:cNvSpPr>
          <p:nvPr>
            <p:ph type="title"/>
          </p:nvPr>
        </p:nvSpPr>
        <p:spPr/>
        <p:txBody>
          <a:bodyPr/>
          <a:lstStyle/>
          <a:p>
            <a:r>
              <a:rPr lang="en-IN" b="1" dirty="0"/>
              <a:t>Circuit Diagram:</a:t>
            </a:r>
          </a:p>
        </p:txBody>
      </p:sp>
      <p:sp>
        <p:nvSpPr>
          <p:cNvPr id="3" name="Content Placeholder 2">
            <a:extLst>
              <a:ext uri="{FF2B5EF4-FFF2-40B4-BE49-F238E27FC236}">
                <a16:creationId xmlns:a16="http://schemas.microsoft.com/office/drawing/2014/main" id="{23E3E46E-8C28-29FA-7BE7-A99072499C58}"/>
              </a:ext>
            </a:extLst>
          </p:cNvPr>
          <p:cNvSpPr>
            <a:spLocks noGrp="1"/>
          </p:cNvSpPr>
          <p:nvPr>
            <p:ph idx="1"/>
          </p:nvPr>
        </p:nvSpPr>
        <p:spPr>
          <a:xfrm>
            <a:off x="1202919" y="2011680"/>
            <a:ext cx="9784080" cy="4623582"/>
          </a:xfrm>
        </p:spPr>
        <p:txBody>
          <a:bodyPr>
            <a:normAutofit lnSpcReduction="1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The circuit diagram shows the hardware connections between all components. It includes the sensor connected to the ADC pin of the microcontroller, relay driver circuit.</a:t>
            </a:r>
            <a:endParaRPr lang="en-IN" dirty="0"/>
          </a:p>
        </p:txBody>
      </p:sp>
      <p:pic>
        <p:nvPicPr>
          <p:cNvPr id="5" name="Picture 4">
            <a:extLst>
              <a:ext uri="{FF2B5EF4-FFF2-40B4-BE49-F238E27FC236}">
                <a16:creationId xmlns:a16="http://schemas.microsoft.com/office/drawing/2014/main" id="{0EAA8AD8-2F72-D7C7-123C-F678E5DC4750}"/>
              </a:ext>
            </a:extLst>
          </p:cNvPr>
          <p:cNvPicPr>
            <a:picLocks noChangeAspect="1"/>
          </p:cNvPicPr>
          <p:nvPr/>
        </p:nvPicPr>
        <p:blipFill>
          <a:blip r:embed="rId2"/>
          <a:stretch>
            <a:fillRect/>
          </a:stretch>
        </p:blipFill>
        <p:spPr>
          <a:xfrm>
            <a:off x="3539328" y="2011680"/>
            <a:ext cx="5111262" cy="2875085"/>
          </a:xfrm>
          <a:prstGeom prst="rect">
            <a:avLst/>
          </a:prstGeom>
        </p:spPr>
      </p:pic>
    </p:spTree>
    <p:extLst>
      <p:ext uri="{BB962C8B-B14F-4D97-AF65-F5344CB8AC3E}">
        <p14:creationId xmlns:p14="http://schemas.microsoft.com/office/powerpoint/2010/main" val="702024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D5CFA-09D1-474E-90A5-0D2ADEAEC117}"/>
              </a:ext>
            </a:extLst>
          </p:cNvPr>
          <p:cNvSpPr>
            <a:spLocks noGrp="1"/>
          </p:cNvSpPr>
          <p:nvPr>
            <p:ph type="title"/>
          </p:nvPr>
        </p:nvSpPr>
        <p:spPr/>
        <p:txBody>
          <a:bodyPr/>
          <a:lstStyle/>
          <a:p>
            <a:r>
              <a:rPr lang="en-IN" b="1" dirty="0"/>
              <a:t>Advantages:</a:t>
            </a:r>
          </a:p>
        </p:txBody>
      </p:sp>
      <p:sp>
        <p:nvSpPr>
          <p:cNvPr id="3" name="Content Placeholder 2">
            <a:extLst>
              <a:ext uri="{FF2B5EF4-FFF2-40B4-BE49-F238E27FC236}">
                <a16:creationId xmlns:a16="http://schemas.microsoft.com/office/drawing/2014/main" id="{A422A7EE-4F33-F109-F187-833125FF6E24}"/>
              </a:ext>
            </a:extLst>
          </p:cNvPr>
          <p:cNvSpPr>
            <a:spLocks noGrp="1"/>
          </p:cNvSpPr>
          <p:nvPr>
            <p:ph idx="1"/>
          </p:nvPr>
        </p:nvSpPr>
        <p:spPr/>
        <p:txBody>
          <a:bodyPr/>
          <a:lstStyle/>
          <a:p>
            <a:pPr marL="0" indent="0">
              <a:buNone/>
            </a:pPr>
            <a:r>
              <a:rPr lang="en-US" dirty="0"/>
              <a:t>The Smart Irrigation System provides several benefits in agricultural applications. It ensures efficient water usage and reduces unnecessary wastage.</a:t>
            </a:r>
          </a:p>
          <a:p>
            <a:pPr marL="0" indent="0">
              <a:buNone/>
            </a:pPr>
            <a:r>
              <a:rPr lang="en-US" dirty="0"/>
              <a:t>Key Advantages:-</a:t>
            </a:r>
          </a:p>
          <a:p>
            <a:r>
              <a:rPr lang="en-US" dirty="0"/>
              <a:t>Saves water through real-time monitoring </a:t>
            </a:r>
          </a:p>
          <a:p>
            <a:r>
              <a:rPr lang="en-IN" dirty="0"/>
              <a:t>Improves plant growth</a:t>
            </a:r>
            <a:endParaRPr lang="en-US" dirty="0"/>
          </a:p>
          <a:p>
            <a:r>
              <a:rPr lang="en-US" dirty="0"/>
              <a:t>Fully automatic system </a:t>
            </a:r>
          </a:p>
          <a:p>
            <a:r>
              <a:rPr lang="en-US" dirty="0"/>
              <a:t>Reduces manual effort </a:t>
            </a:r>
          </a:p>
          <a:p>
            <a:r>
              <a:rPr lang="en-US" dirty="0"/>
              <a:t>Low cost and easy implementation </a:t>
            </a:r>
          </a:p>
          <a:p>
            <a:r>
              <a:rPr lang="en-IN" dirty="0"/>
              <a:t>Prevents overwatering and underwatering</a:t>
            </a:r>
            <a:endParaRPr lang="en-US" dirty="0"/>
          </a:p>
          <a:p>
            <a:endParaRPr lang="en-IN" dirty="0"/>
          </a:p>
        </p:txBody>
      </p:sp>
    </p:spTree>
    <p:extLst>
      <p:ext uri="{BB962C8B-B14F-4D97-AF65-F5344CB8AC3E}">
        <p14:creationId xmlns:p14="http://schemas.microsoft.com/office/powerpoint/2010/main" val="3684829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F921D-BCD0-6D08-A2DA-0DFA1862C2A7}"/>
              </a:ext>
            </a:extLst>
          </p:cNvPr>
          <p:cNvSpPr>
            <a:spLocks noGrp="1"/>
          </p:cNvSpPr>
          <p:nvPr>
            <p:ph type="title"/>
          </p:nvPr>
        </p:nvSpPr>
        <p:spPr/>
        <p:txBody>
          <a:bodyPr/>
          <a:lstStyle/>
          <a:p>
            <a:r>
              <a:rPr lang="en-IN" b="1" dirty="0"/>
              <a:t>Applications:</a:t>
            </a:r>
          </a:p>
        </p:txBody>
      </p:sp>
      <p:sp>
        <p:nvSpPr>
          <p:cNvPr id="3" name="Content Placeholder 2">
            <a:extLst>
              <a:ext uri="{FF2B5EF4-FFF2-40B4-BE49-F238E27FC236}">
                <a16:creationId xmlns:a16="http://schemas.microsoft.com/office/drawing/2014/main" id="{D99D195D-E315-84C7-2CDB-FDFA3D4E3BE8}"/>
              </a:ext>
            </a:extLst>
          </p:cNvPr>
          <p:cNvSpPr>
            <a:spLocks noGrp="1"/>
          </p:cNvSpPr>
          <p:nvPr>
            <p:ph idx="1"/>
          </p:nvPr>
        </p:nvSpPr>
        <p:spPr/>
        <p:txBody>
          <a:bodyPr>
            <a:normAutofit lnSpcReduction="10000"/>
          </a:bodyPr>
          <a:lstStyle/>
          <a:p>
            <a:pPr marL="0" indent="0">
              <a:buNone/>
            </a:pPr>
            <a:r>
              <a:rPr lang="en-US" dirty="0"/>
              <a:t>This system can be used in various environments where irrigation is required. It is suitable for both small-scale and large-scale usage. It ensures efficient water management by supplying water only when needed, reducing wastage and improving plant health. Additionally, its automated operation makes it convenient and reliable for continuous use without manual intervention.</a:t>
            </a:r>
          </a:p>
          <a:p>
            <a:r>
              <a:rPr lang="en-US" dirty="0"/>
              <a:t>Agricultural fields </a:t>
            </a:r>
          </a:p>
          <a:p>
            <a:r>
              <a:rPr lang="en-US" dirty="0"/>
              <a:t>Home gardens </a:t>
            </a:r>
          </a:p>
          <a:p>
            <a:r>
              <a:rPr lang="en-US" dirty="0"/>
              <a:t>Greenhouses </a:t>
            </a:r>
          </a:p>
          <a:p>
            <a:r>
              <a:rPr lang="en-US" dirty="0"/>
              <a:t>Smart farming systems</a:t>
            </a:r>
          </a:p>
          <a:p>
            <a:r>
              <a:rPr lang="en-US" dirty="0"/>
              <a:t>Nurseries and plant cultivation centers</a:t>
            </a:r>
          </a:p>
          <a:p>
            <a:r>
              <a:rPr lang="en-IN" dirty="0"/>
              <a:t>Parks and landscaping areas</a:t>
            </a:r>
            <a:endParaRPr lang="en-US" dirty="0"/>
          </a:p>
          <a:p>
            <a:endParaRPr lang="en-IN" dirty="0"/>
          </a:p>
        </p:txBody>
      </p:sp>
    </p:spTree>
    <p:extLst>
      <p:ext uri="{BB962C8B-B14F-4D97-AF65-F5344CB8AC3E}">
        <p14:creationId xmlns:p14="http://schemas.microsoft.com/office/powerpoint/2010/main" val="575893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DF156-9A37-DD29-A87F-AC450CF7AE2B}"/>
              </a:ext>
            </a:extLst>
          </p:cNvPr>
          <p:cNvSpPr>
            <a:spLocks noGrp="1"/>
          </p:cNvSpPr>
          <p:nvPr>
            <p:ph type="title"/>
          </p:nvPr>
        </p:nvSpPr>
        <p:spPr/>
        <p:txBody>
          <a:bodyPr/>
          <a:lstStyle/>
          <a:p>
            <a:r>
              <a:rPr lang="en-IN" b="1" dirty="0"/>
              <a:t>Future Scope:</a:t>
            </a:r>
          </a:p>
        </p:txBody>
      </p:sp>
      <p:sp>
        <p:nvSpPr>
          <p:cNvPr id="3" name="Content Placeholder 2">
            <a:extLst>
              <a:ext uri="{FF2B5EF4-FFF2-40B4-BE49-F238E27FC236}">
                <a16:creationId xmlns:a16="http://schemas.microsoft.com/office/drawing/2014/main" id="{B15D387C-EA23-1C47-7522-E892316FC957}"/>
              </a:ext>
            </a:extLst>
          </p:cNvPr>
          <p:cNvSpPr>
            <a:spLocks noGrp="1"/>
          </p:cNvSpPr>
          <p:nvPr>
            <p:ph idx="1"/>
          </p:nvPr>
        </p:nvSpPr>
        <p:spPr/>
        <p:txBody>
          <a:bodyPr/>
          <a:lstStyle/>
          <a:p>
            <a:pPr marL="0" indent="0">
              <a:buNone/>
            </a:pPr>
            <a:r>
              <a:rPr lang="en-US" dirty="0"/>
              <a:t>The system can be enhanced by integrating advanced technologies to improve functionality and efficiency.</a:t>
            </a:r>
          </a:p>
          <a:p>
            <a:pPr marL="0" indent="0">
              <a:buNone/>
            </a:pPr>
            <a:r>
              <a:rPr lang="en-US" dirty="0"/>
              <a:t>Future Improvements:-</a:t>
            </a:r>
          </a:p>
          <a:p>
            <a:r>
              <a:rPr lang="en-US" dirty="0"/>
              <a:t>IoT-based remote monitoring </a:t>
            </a:r>
          </a:p>
          <a:p>
            <a:r>
              <a:rPr lang="en-US" dirty="0"/>
              <a:t>Mobile app control </a:t>
            </a:r>
          </a:p>
          <a:p>
            <a:r>
              <a:rPr lang="en-US" dirty="0"/>
              <a:t>Solar-powered system </a:t>
            </a:r>
          </a:p>
          <a:p>
            <a:r>
              <a:rPr lang="en-US" dirty="0"/>
              <a:t>AI-based smart irrigation</a:t>
            </a:r>
          </a:p>
          <a:p>
            <a:endParaRPr lang="en-IN" dirty="0"/>
          </a:p>
        </p:txBody>
      </p:sp>
    </p:spTree>
    <p:extLst>
      <p:ext uri="{BB962C8B-B14F-4D97-AF65-F5344CB8AC3E}">
        <p14:creationId xmlns:p14="http://schemas.microsoft.com/office/powerpoint/2010/main" val="2483001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C8803-3561-B396-DCFF-3BACFC72F433}"/>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F57E200D-2DB0-7B12-2D1B-901E71007A27}"/>
              </a:ext>
            </a:extLst>
          </p:cNvPr>
          <p:cNvSpPr>
            <a:spLocks noGrp="1"/>
          </p:cNvSpPr>
          <p:nvPr>
            <p:ph idx="1"/>
          </p:nvPr>
        </p:nvSpPr>
        <p:spPr/>
        <p:txBody>
          <a:bodyPr/>
          <a:lstStyle/>
          <a:p>
            <a:pPr marL="0" indent="0">
              <a:buNone/>
            </a:pPr>
            <a:r>
              <a:rPr lang="en-US" dirty="0"/>
              <a:t>The Smart Irrigation System demonstrates how embedded systems can be effectively used to automate agricultural processes and improve overall efficiency. By continuously monitoring soil moisture levels and controlling irrigation accordingly, it significantly reduces water wastage and ensures that plants receive the right amount of water at the right time. This helps in maintaining optimal soil conditions, leading to healthier plant growth and better crop yield.</a:t>
            </a:r>
          </a:p>
          <a:p>
            <a:pPr marL="0" indent="0">
              <a:buNone/>
            </a:pPr>
            <a:r>
              <a:rPr lang="en-US" dirty="0"/>
              <a:t>Overall, the system is a reliable, cost-effective, and scalable solution that can be easily implemented in different agricultural environments. It supports sustainable farming practices by conserving water resources and reducing manual effort, making it an ideal approach for modern and smart agriculture systems.</a:t>
            </a:r>
          </a:p>
          <a:p>
            <a:endParaRPr lang="en-IN" dirty="0"/>
          </a:p>
        </p:txBody>
      </p:sp>
    </p:spTree>
    <p:extLst>
      <p:ext uri="{BB962C8B-B14F-4D97-AF65-F5344CB8AC3E}">
        <p14:creationId xmlns:p14="http://schemas.microsoft.com/office/powerpoint/2010/main" val="15881185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docProps/app.xml><?xml version="1.0" encoding="utf-8"?>
<Properties xmlns="http://schemas.openxmlformats.org/officeDocument/2006/extended-properties" xmlns:vt="http://schemas.openxmlformats.org/officeDocument/2006/docPropsVTypes">
  <Template>TM03090430[[fn=Banded]]</Template>
  <TotalTime>21</TotalTime>
  <Words>756</Words>
  <Application>Microsoft Office PowerPoint</Application>
  <PresentationFormat>Widescreen</PresentationFormat>
  <Paragraphs>64</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Corbel</vt:lpstr>
      <vt:lpstr>Wingdings</vt:lpstr>
      <vt:lpstr>Banded</vt:lpstr>
      <vt:lpstr>Smart Irrigation System using AVR Microcontroller</vt:lpstr>
      <vt:lpstr>Introduction:</vt:lpstr>
      <vt:lpstr>Objective:</vt:lpstr>
      <vt:lpstr>Components Used:</vt:lpstr>
      <vt:lpstr>Working Principle: </vt:lpstr>
      <vt:lpstr>Circuit Diagram:</vt:lpstr>
      <vt:lpstr>Advantages:</vt:lpstr>
      <vt:lpstr>Applications:</vt:lpstr>
      <vt:lpstr>Future Scope: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Shital singh</dc:creator>
  <cp:lastModifiedBy>Shital singh</cp:lastModifiedBy>
  <cp:revision>4</cp:revision>
  <dcterms:created xsi:type="dcterms:W3CDTF">2026-04-28T08:18:03Z</dcterms:created>
  <dcterms:modified xsi:type="dcterms:W3CDTF">2026-04-29T06:10:44Z</dcterms:modified>
</cp:coreProperties>
</file>